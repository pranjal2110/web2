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4ED8"/>
                </a:solidFill>
              </a:defRPr>
            </a:pPr>
            <a:r>
              <a:t>SMART INDIA HACKATHON 2024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Ministry of Education &amp; AICTE Initiative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Athenaeum</a:t>
            </a:r>
          </a:p>
          <a:p>
            <a:pPr algn="ctr">
              <a:defRPr sz="1600">
                <a:solidFill>
                  <a:srgbClr val="D97706"/>
                </a:solidFill>
              </a:defRPr>
            </a:pPr>
            <a:r>
              <a:t>Next-Generation Library Management &amp; Automated Circulation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600">
                <a:solidFill>
                  <a:srgbClr val="0F172A"/>
                </a:solidFill>
              </a:rPr>
              <a:t>•  Problem Statement ID – </a:t>
            </a:r>
            <a:r>
              <a:rPr sz="1500">
                <a:solidFill>
                  <a:srgbClr val="334155"/>
                </a:solidFill>
              </a:rPr>
              <a:t>SIH-EDU-1733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F172A"/>
                </a:solidFill>
              </a:rPr>
              <a:t>•  Problem Statement Title – </a:t>
            </a:r>
            <a:r>
              <a:rPr sz="1500">
                <a:solidFill>
                  <a:srgbClr val="334155"/>
                </a:solidFill>
              </a:rPr>
              <a:t>Smart Library Catalogue, Circulation &amp; Asset Management System with Real-Time Due Date &amp; Automated Fine Engine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F172A"/>
                </a:solidFill>
              </a:rPr>
              <a:t>•  Theme – </a:t>
            </a:r>
            <a:r>
              <a:rPr sz="1500">
                <a:solidFill>
                  <a:srgbClr val="334155"/>
                </a:solidFill>
              </a:rPr>
              <a:t>Education / Public Services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F172A"/>
                </a:solidFill>
              </a:rPr>
              <a:t>•  PS Category – </a:t>
            </a:r>
            <a:r>
              <a:rPr sz="1500">
                <a:solidFill>
                  <a:srgbClr val="334155"/>
                </a:solidFill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F172A"/>
                </a:solidFill>
              </a:rPr>
              <a:t>•  Team ID – </a:t>
            </a:r>
            <a:r>
              <a:rPr sz="1500">
                <a:solidFill>
                  <a:srgbClr val="334155"/>
                </a:solidFill>
              </a:rPr>
              <a:t>34005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F172A"/>
                </a:solidFill>
              </a:rPr>
              <a:t>•  Team Name – </a:t>
            </a:r>
            <a:r>
              <a:rPr sz="1500">
                <a:solidFill>
                  <a:srgbClr val="334155"/>
                </a:solidFill>
              </a:rPr>
              <a:t>Sarva-Conquerors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194560"/>
            <a:ext cx="3840480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237744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1D4ED8"/>
                </a:solidFill>
              </a:defRPr>
            </a:pPr>
            <a:r>
              <a:t>🏛️ Key Solution Highlights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✔ Role-Based Access (Librarians &amp; Patrons)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✔ Zero-Copy &amp; Borrow Quota Guardrails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✔ Automated Due Date &amp; Overdue Fine Engine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✔ Real-Time Telemetry &amp; Popularity Analytics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✔ Server-Side Rendered (Node + Express + EJS)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✔ Cloud Database (MongoDB Atlas) + Fallback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4ED8"/>
                </a:solidFill>
              </a:defRPr>
            </a:pPr>
            <a:r>
              <a:t>SMART INDIA HACKATHON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Ministry of Education &amp; AICTE Initiative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 &amp; 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B91C1C"/>
                </a:solidFill>
              </a:defRPr>
            </a:pPr>
            <a:r>
              <a:t>⚠️ Current Challenges in Libraries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Discrepancies in Inventory: </a:t>
            </a:r>
            <a:r>
              <a:rPr sz="1200">
                <a:solidFill>
                  <a:srgbClr val="475569"/>
                </a:solidFill>
              </a:rPr>
              <a:t>Manual or basic systems fail to track exact physical availability, leading to phantom issues.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No Strict Guardrails: </a:t>
            </a:r>
            <a:r>
              <a:rPr sz="1200">
                <a:solidFill>
                  <a:srgbClr val="475569"/>
                </a:solidFill>
              </a:rPr>
              <a:t>Patrons can borrow books that are out of stock, hoard multiple copies, or exceed per-member quotas.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Uncollected Overdue Fines: </a:t>
            </a:r>
            <a:r>
              <a:rPr sz="1200">
                <a:solidFill>
                  <a:srgbClr val="475569"/>
                </a:solidFill>
              </a:rPr>
              <a:t>Calculating fines manually based on late days is cumbersome, error-prone, and often overlooked.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• Lack of Operational Telemetry: </a:t>
            </a:r>
            <a:r>
              <a:rPr sz="1200">
                <a:solidFill>
                  <a:srgbClr val="475569"/>
                </a:solidFill>
              </a:rPr>
              <a:t>Administrators lack actionable insights on most-borrowed disciplines, stock turnover, and patron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5803D"/>
                </a:solidFill>
              </a:defRPr>
            </a:pPr>
            <a:r>
              <a:t>💡 Our Solution: Athenaeum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Full-Stack SSR Platform: </a:t>
            </a:r>
            <a:r>
              <a:rPr sz="1200">
                <a:solidFill>
                  <a:srgbClr val="475569"/>
                </a:solidFill>
              </a:rPr>
              <a:t>Built using Node.js, Express, EJS, and MongoDB Atlas for high speed, reliability, and security.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Multi-Layer Safety Guardrails: </a:t>
            </a:r>
            <a:r>
              <a:rPr sz="1200">
                <a:solidFill>
                  <a:srgbClr val="475569"/>
                </a:solidFill>
              </a:rPr>
              <a:t>Automatic rejection of 0-copy checkouts, enforcement of 3-book member limits, and duplicate loan prevention.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Dynamic Overdue Fine Engine: </a:t>
            </a:r>
            <a:r>
              <a:rPr sz="1200">
                <a:solidFill>
                  <a:srgbClr val="475569"/>
                </a:solidFill>
              </a:rPr>
              <a:t>Real-time calculation at $0.75/day with Time-Machine simulation (+3d, +7d, +15d) for instant verification.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Comprehensive Telemetry: </a:t>
            </a:r>
            <a:r>
              <a:rPr sz="1200">
                <a:solidFill>
                  <a:srgbClr val="475569"/>
                </a:solidFill>
              </a:rPr>
              <a:t>Interactive dashboard with physical utilization %, ranked popularity meters, and audit trails.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4ED8"/>
                </a:solidFill>
              </a:defRPr>
            </a:pPr>
            <a:r>
              <a:t>SMART INDIA HACKATHON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Ministry of Education &amp; AICTE Initiative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Technical Architecture &amp; System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D4ED8"/>
                </a:solidFill>
              </a:defRPr>
            </a:pPr>
            <a:r>
              <a:t>Presentation Layer (SSR)</a:t>
            </a:r>
          </a:p>
          <a:p>
            <a:pPr>
              <a:spcAft>
                <a:spcPts val="1200"/>
              </a:spcAft>
              <a:defRPr b="1" sz="1300">
                <a:solidFill>
                  <a:srgbClr val="D97706"/>
                </a:solidFill>
              </a:defRPr>
            </a:pPr>
            <a:r>
              <a:t>EJS &amp; Vanilla CSS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Server-Side Rendering for fast initial page load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Responsive Dark/Light mode theme system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Custom modals &amp; flash feedback alerts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SEO-friendly semantic HTML5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33756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D4ED8"/>
                </a:solidFill>
              </a:defRPr>
            </a:pPr>
            <a:r>
              <a:t>Application Layer</a:t>
            </a:r>
          </a:p>
          <a:p>
            <a:pPr>
              <a:spcAft>
                <a:spcPts val="1200"/>
              </a:spcAft>
              <a:defRPr b="1" sz="1300">
                <a:solidFill>
                  <a:srgbClr val="D97706"/>
                </a:solidFill>
              </a:defRPr>
            </a:pPr>
            <a:r>
              <a:t>Node.js &amp; Express.js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RESTful route controllers (CRUD &amp; circulation)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Role authorization guards (Librarian vs Member)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Bcrypt password hashing (Salt rounds 10)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Session management with connect-mongo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33756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D4ED8"/>
                </a:solidFill>
              </a:defRPr>
            </a:pPr>
            <a:r>
              <a:t>Database &amp; Persistence</a:t>
            </a:r>
          </a:p>
          <a:p>
            <a:pPr>
              <a:spcAft>
                <a:spcPts val="1200"/>
              </a:spcAft>
              <a:defRPr b="1" sz="1300">
                <a:solidFill>
                  <a:srgbClr val="D97706"/>
                </a:solidFill>
              </a:defRPr>
            </a:pPr>
            <a:r>
              <a:t>MongoDB Atlas + In-Memory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Mongoose Schemas (User, Book, Loan, Log)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Text search index on title, author, ISBN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MongoDB Atlas cloud persistence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Embedded in-memory fallback for zero-crash deploy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4ED8"/>
                </a:solidFill>
              </a:defRPr>
            </a:pPr>
            <a:r>
              <a:t>SMART INDIA HACKATHON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Ministry of Education &amp; AICTE Initiative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Core Features &amp; Strict Business Logic Guardrails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700">
                <a:solidFill>
                  <a:srgbClr val="1D4ED8"/>
                </a:solidFill>
              </a:defRPr>
            </a:pPr>
            <a:r>
              <a:t>📋 Core Operational Features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Role-Based Access: </a:t>
            </a:r>
            <a:r>
              <a:rPr sz="1200">
                <a:solidFill>
                  <a:srgbClr val="475569"/>
                </a:solidFill>
              </a:rPr>
              <a:t>Librarian administration dashboard vs Member self-service portal ('My Loans').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Librarian Book CRUD: </a:t>
            </a:r>
            <a:r>
              <a:rPr sz="1200">
                <a:solidFill>
                  <a:srgbClr val="475569"/>
                </a:solidFill>
              </a:rPr>
              <a:t>Full catalogue management with Title, Author, ISBN, Category, Total Copies &amp; Shelf Locations.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Multi-Filter Search: </a:t>
            </a:r>
            <a:r>
              <a:rPr sz="1200">
                <a:solidFill>
                  <a:srgbClr val="475569"/>
                </a:solidFill>
              </a:rPr>
              <a:t>Search by keyword across title/author/ISBN, filter by discipline and shelf availability.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Automated Issue &amp; Return: </a:t>
            </a:r>
            <a:r>
              <a:rPr sz="1200">
                <a:solidFill>
                  <a:srgbClr val="475569"/>
                </a:solidFill>
              </a:rPr>
              <a:t>Auto-decrements available copies on checkout and auto-increments upon book return.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700">
                <a:solidFill>
                  <a:srgbClr val="B45309"/>
                </a:solidFill>
              </a:defRPr>
            </a:pPr>
            <a:r>
              <a:t>🛡️ The 3 Mandatory Safety Guardrails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✔ 1. Zero Available Copies Guard: </a:t>
            </a:r>
            <a:r>
              <a:rPr sz="1200">
                <a:solidFill>
                  <a:srgbClr val="475569"/>
                </a:solidFill>
              </a:rPr>
              <a:t>Strictly prevents issuing a book when availableCopies &lt;= 0. System displays clear out-of-stock badge.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✔ 2. Per-Member Borrowing Quota: </a:t>
            </a:r>
            <a:r>
              <a:rPr sz="1200">
                <a:solidFill>
                  <a:srgbClr val="475569"/>
                </a:solidFill>
              </a:rPr>
              <a:t>Enforces strict limits (default max 3 books per patron). Prevents checkouts once active loans reach quota.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✔ 3. Duplicate Checkout Prevention: </a:t>
            </a:r>
            <a:r>
              <a:rPr sz="1200">
                <a:solidFill>
                  <a:srgbClr val="475569"/>
                </a:solidFill>
              </a:rPr>
              <a:t>Rejects issuing a second physical copy of the exact same title to the same patron while one is still active.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✔ 4. Delete Protection Guardrail: </a:t>
            </a:r>
            <a:r>
              <a:rPr sz="1200">
                <a:solidFill>
                  <a:srgbClr val="475569"/>
                </a:solidFill>
              </a:rPr>
              <a:t>Librarians cannot delete catalogue titles that currently have active checked-out copies with patrons.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4ED8"/>
                </a:solidFill>
              </a:defRPr>
            </a:pPr>
            <a:r>
              <a:t>SMART INDIA HACKATHON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Ministry of Education &amp; AICTE Initiative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Stretch Goal &amp; Innovation: Automated Fine Engine &amp;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700">
                <a:solidFill>
                  <a:srgbClr val="1D4ED8"/>
                </a:solidFill>
              </a:defRPr>
            </a:pPr>
            <a:r>
              <a:t>💰 Automated Overdue Fine Engine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Formula: </a:t>
            </a:r>
            <a:r>
              <a:rPr sz="1200">
                <a:solidFill>
                  <a:srgbClr val="475569"/>
                </a:solidFill>
              </a:rPr>
              <a:t>Fine = (Days Overdue) × $0.75 / day. Automatically calculated against simulated date.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Time Machine Feature: </a:t>
            </a:r>
            <a:r>
              <a:rPr sz="1200">
                <a:solidFill>
                  <a:srgbClr val="475569"/>
                </a:solidFill>
              </a:rPr>
              <a:t>Header controls allow fast-forwarding simulation (+3d, +7d, +15d) to immediately test overdue transitions.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Fine Settlement Workflow: </a:t>
            </a:r>
            <a:r>
              <a:rPr sz="1200">
                <a:solidFill>
                  <a:srgbClr val="475569"/>
                </a:solidFill>
              </a:rPr>
              <a:t>Supports full cash collection (updates patron payment ledger) and librarian staff waiving.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Active Reminders: </a:t>
            </a:r>
            <a:r>
              <a:rPr sz="1200">
                <a:solidFill>
                  <a:srgbClr val="475569"/>
                </a:solidFill>
              </a:rPr>
              <a:t>Overdue loans display distinct red alert badges on both Circulation Desk and Patron 'My Loans' portal.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700">
                <a:solidFill>
                  <a:srgbClr val="1D4ED8"/>
                </a:solidFill>
              </a:defRPr>
            </a:pPr>
            <a:r>
              <a:t>📊 Real-Time Analytics &amp; Telemetry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Key Performance Indicators (KPIs): </a:t>
            </a:r>
            <a:r>
              <a:rPr sz="1200">
                <a:solidFill>
                  <a:srgbClr val="475569"/>
                </a:solidFill>
              </a:rPr>
              <a:t>Live counters for Total Titles, Physical Copies, Active Loans, Overdue Books, and Fines.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Most-Borrowed Titles Ranking: </a:t>
            </a:r>
            <a:r>
              <a:rPr sz="1200">
                <a:solidFill>
                  <a:srgbClr val="475569"/>
                </a:solidFill>
              </a:rPr>
              <a:t>Visual popularity leaderboard dynamically ranked by lifetime checkout frequency.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Discipline Distribution: </a:t>
            </a:r>
            <a:r>
              <a:rPr sz="1200">
                <a:solidFill>
                  <a:srgbClr val="475569"/>
                </a:solidFill>
              </a:rPr>
              <a:t>Proportional breakdown across Computer Science, Literature, Philosophy, and Science.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System Audit Log: </a:t>
            </a:r>
            <a:r>
              <a:rPr sz="1200">
                <a:solidFill>
                  <a:srgbClr val="475569"/>
                </a:solidFill>
              </a:rPr>
              <a:t>Chronological history trail logging all issues, returns, inventory updates, and fine waivers.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D4ED8"/>
                </a:solidFill>
              </a:defRPr>
            </a:pPr>
            <a:r>
              <a:t>SMART INDIA HACKATHON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Ministry of Education &amp; AICTE Initiative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Testing, Verification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700">
                <a:solidFill>
                  <a:srgbClr val="15803D"/>
                </a:solidFill>
              </a:defRPr>
            </a:pPr>
            <a:r>
              <a:t>🧪 100% Automated Test Coverage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</a:rPr>
              <a:t>✔ 21 / 21 Assertions Passing: </a:t>
            </a:r>
            <a:r>
              <a:rPr sz="1200">
                <a:solidFill>
                  <a:srgbClr val="475569"/>
                </a:solidFill>
              </a:rPr>
              <a:t>Full test suite in tests/circulation.test.js covers seeding, borrow guards, and fine math.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</a:rPr>
              <a:t>✔ Zero Copies Guard Test: </a:t>
            </a:r>
            <a:r>
              <a:rPr sz="1200">
                <a:solidFill>
                  <a:srgbClr val="475569"/>
                </a:solidFill>
              </a:rPr>
              <a:t>Verified Clean Code (0 copies) checkout is rejected.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</a:rPr>
              <a:t>✔ Quota Limit Test: </a:t>
            </a:r>
            <a:r>
              <a:rPr sz="1200">
                <a:solidFill>
                  <a:srgbClr val="475569"/>
                </a:solidFill>
              </a:rPr>
              <a:t>Verified Alex Rivera (3 books max) 4th borrow is blocked.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</a:rPr>
              <a:t>✔ Return Inventory Test: </a:t>
            </a:r>
            <a:r>
              <a:rPr sz="1200">
                <a:solidFill>
                  <a:srgbClr val="475569"/>
                </a:solidFill>
              </a:rPr>
              <a:t>Verified available copies automatically increment back to shelf count on return.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</a:rPr>
              <a:t>✔ Time-Travel Fine Test: </a:t>
            </a:r>
            <a:r>
              <a:rPr sz="1200">
                <a:solidFill>
                  <a:srgbClr val="475569"/>
                </a:solidFill>
              </a:rPr>
              <a:t>Verified exact mathematical calculation of fines across multiple overdue loans.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700">
                <a:solidFill>
                  <a:srgbClr val="1D4ED8"/>
                </a:solidFill>
              </a:defRPr>
            </a:pPr>
            <a:r>
              <a:t>🚀 Feasibility &amp; Future Roadmap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Zero-Crash Deployment: </a:t>
            </a:r>
            <a:r>
              <a:rPr sz="1200">
                <a:solidFill>
                  <a:srgbClr val="475569"/>
                </a:solidFill>
              </a:rPr>
              <a:t>Features automatic in-memory MongoDB fallback for instant cloud hosting on Render.com.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RFID &amp; Barcode Integration: </a:t>
            </a:r>
            <a:r>
              <a:rPr sz="1200">
                <a:solidFill>
                  <a:srgbClr val="475569"/>
                </a:solidFill>
              </a:rPr>
              <a:t>Add optical barcode and RFID tag scanning for contactless checkout.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Automated Patron Notifications: </a:t>
            </a:r>
            <a:r>
              <a:rPr sz="1200">
                <a:solidFill>
                  <a:srgbClr val="475569"/>
                </a:solidFill>
              </a:rPr>
              <a:t>SMS &amp; WhatsApp alerts 48 hours prior to due dates to reduce overdue rates.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Multi-Branch Networking: </a:t>
            </a:r>
            <a:r>
              <a:rPr sz="1200">
                <a:solidFill>
                  <a:srgbClr val="475569"/>
                </a:solidFill>
              </a:rPr>
              <a:t>Inter-library loan protocol enabling book transfers across university departments.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